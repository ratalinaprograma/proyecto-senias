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ADLaM Display"/>
      <p:regular r:id="rId12"/>
    </p:embeddedFont>
    <p:embeddedFont>
      <p:font typeface="Cabin"/>
      <p:regular r:id="rId13"/>
      <p:bold r:id="rId14"/>
      <p:italic r:id="rId15"/>
      <p:boldItalic r:id="rId16"/>
    </p:embeddedFont>
    <p:embeddedFont>
      <p:font typeface="Caveat Medium"/>
      <p:regular r:id="rId17"/>
      <p:bold r:id="rId18"/>
    </p:embeddedFont>
    <p:embeddedFont>
      <p:font typeface="Cabin Medium"/>
      <p:regular r:id="rId19"/>
      <p:bold r:id="rId20"/>
      <p:italic r:id="rId21"/>
      <p:boldItalic r:id="rId22"/>
    </p:embeddedFont>
    <p:embeddedFont>
      <p:font typeface="Caveat SemiBo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53wbForq+12LsNE5QcxtDEukL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Medium-bold.fntdata"/><Relationship Id="rId22" Type="http://schemas.openxmlformats.org/officeDocument/2006/relationships/font" Target="fonts/CabinMedium-boldItalic.fntdata"/><Relationship Id="rId21" Type="http://schemas.openxmlformats.org/officeDocument/2006/relationships/font" Target="fonts/CabinMedium-italic.fntdata"/><Relationship Id="rId24" Type="http://schemas.openxmlformats.org/officeDocument/2006/relationships/font" Target="fonts/CaveatSemiBold-bold.fntdata"/><Relationship Id="rId23" Type="http://schemas.openxmlformats.org/officeDocument/2006/relationships/font" Target="fonts/Caveat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Cabin-regular.fntdata"/><Relationship Id="rId12" Type="http://schemas.openxmlformats.org/officeDocument/2006/relationships/font" Target="fonts/ADLaMDisplay-regular.fntdata"/><Relationship Id="rId15" Type="http://schemas.openxmlformats.org/officeDocument/2006/relationships/font" Target="fonts/Cabin-italic.fntdata"/><Relationship Id="rId14" Type="http://schemas.openxmlformats.org/officeDocument/2006/relationships/font" Target="fonts/Cabin-bold.fntdata"/><Relationship Id="rId17" Type="http://schemas.openxmlformats.org/officeDocument/2006/relationships/font" Target="fonts/CaveatMedium-regular.fntdata"/><Relationship Id="rId16" Type="http://schemas.openxmlformats.org/officeDocument/2006/relationships/font" Target="fonts/Cabin-boldItalic.fntdata"/><Relationship Id="rId19" Type="http://schemas.openxmlformats.org/officeDocument/2006/relationships/font" Target="fonts/CabinMedium-regular.fntdata"/><Relationship Id="rId18" Type="http://schemas.openxmlformats.org/officeDocument/2006/relationships/font" Target="fonts/Cavea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jpg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F5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57200" y="502920"/>
            <a:ext cx="502920" cy="45720"/>
          </a:xfrm>
          <a:prstGeom prst="rect">
            <a:avLst/>
          </a:prstGeom>
          <a:solidFill>
            <a:srgbClr val="F584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57200" y="77724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6000"/>
              <a:buFont typeface="Arial"/>
              <a:buNone/>
            </a:pPr>
            <a:r>
              <a:rPr lang="en-US" sz="6600">
                <a:solidFill>
                  <a:srgbClr val="F5843F"/>
                </a:solidFill>
                <a:latin typeface="Caveat SemiBold"/>
                <a:ea typeface="Caveat SemiBold"/>
                <a:cs typeface="Caveat SemiBold"/>
                <a:sym typeface="Caveat SemiBold"/>
              </a:rPr>
              <a:t>SIGNY</a:t>
            </a:r>
            <a:endParaRPr sz="6600">
              <a:solidFill>
                <a:schemeClr val="dk1"/>
              </a:solidFill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457200" y="178308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DLaM Display"/>
              <a:buNone/>
            </a:pPr>
            <a:r>
              <a:rPr lang="en-US" sz="20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Aprender Lengua de Señas Chilena</a:t>
            </a:r>
            <a:endParaRPr sz="20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DLaM Display"/>
              <a:buNone/>
            </a:pPr>
            <a:r>
              <a:rPr lang="en-US" sz="20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de forma interactiva, gamificada y accesible</a:t>
            </a:r>
            <a:endParaRPr sz="20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457200" y="2697480"/>
            <a:ext cx="60931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9C0DE"/>
                </a:solidFill>
                <a:latin typeface="Calibri"/>
                <a:ea typeface="Calibri"/>
                <a:cs typeface="Calibri"/>
                <a:sym typeface="Calibri"/>
              </a:rPr>
              <a:t>Aplicación móvil para el aprendizaje de LSCh con apoyo de visión por computadora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457200" y="5074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457200" y="5349240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9C0DE"/>
                </a:solidFill>
                <a:latin typeface="Calibri"/>
                <a:ea typeface="Calibri"/>
                <a:cs typeface="Calibri"/>
                <a:sym typeface="Calibri"/>
              </a:rPr>
              <a:t>Benjamín Vallejos  •  Catalina Gutiérrez  •  Fernanda Poblete  •  Michael Ibáñez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178040" y="777240"/>
            <a:ext cx="4526280" cy="5349240"/>
          </a:xfrm>
          <a:prstGeom prst="roundRect">
            <a:avLst>
              <a:gd fmla="val 3636" name="adj"/>
            </a:avLst>
          </a:prstGeom>
          <a:solidFill>
            <a:srgbClr val="2239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/assets/fox_wave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4365" y="1728611"/>
            <a:ext cx="3042229" cy="3400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F57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384048"/>
            <a:ext cx="502920" cy="41148"/>
          </a:xfrm>
          <a:prstGeom prst="rect">
            <a:avLst/>
          </a:prstGeom>
          <a:solidFill>
            <a:srgbClr val="F584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457200" y="4572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843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457200" y="777240"/>
            <a:ext cx="6035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DLaM Display"/>
              <a:buNone/>
            </a:pPr>
            <a:r>
              <a:rPr b="1" lang="en-US" sz="32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Aprender LSCh todavía</a:t>
            </a:r>
            <a:endParaRPr sz="32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DLaM Display"/>
              <a:buNone/>
            </a:pPr>
            <a:r>
              <a:rPr b="1" lang="en-US" sz="32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tiene demasiadas barreras</a:t>
            </a:r>
            <a:endParaRPr sz="32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457200" y="1965951"/>
            <a:ext cx="59622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A9C0DE"/>
                </a:solidFill>
                <a:latin typeface="Cabin Medium"/>
                <a:ea typeface="Cabin Medium"/>
                <a:cs typeface="Cabin Medium"/>
                <a:sym typeface="Cabin Medium"/>
              </a:rPr>
              <a:t>En Chile, la Lengua de Señas Chilena es reconocida oficialmente, pero todavía existe una brecha importante entre las personas sordas y oyentes. El proyecto identifica alrededor de 712.005 personas con algún grado de pérdida auditiva, de las cuales aproximadamente 179.268 presentan sordera total.</a:t>
            </a:r>
            <a:endParaRPr sz="15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457200" y="329184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050"/>
              <a:buFont typeface="Calibri"/>
              <a:buNone/>
            </a:pPr>
            <a:r>
              <a:rPr i="1" lang="en-US" sz="850">
                <a:solidFill>
                  <a:srgbClr val="A9C0DE"/>
                </a:solidFill>
                <a:latin typeface="Cabin Medium"/>
                <a:ea typeface="Cabin Medium"/>
                <a:cs typeface="Cabin Medium"/>
                <a:sym typeface="Cabin Medium"/>
              </a:rPr>
              <a:t>Fuente: SENADIS, Segundo Estudio Nacional de la Discapacidad (ENDISC II, 2015).</a:t>
            </a:r>
            <a:endParaRPr sz="8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57200" y="370332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Actualmente, aprender LSCh implica:</a:t>
            </a:r>
            <a:endParaRPr sz="16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502920" y="4069080"/>
            <a:ext cx="6035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bin Medium"/>
              <a:buChar char="●"/>
            </a:pPr>
            <a:r>
              <a:rPr lang="en-US" sz="13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Cursos presenciales costosos o con horarios poco flexibles.</a:t>
            </a:r>
            <a:endParaRPr sz="13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bin Medium"/>
              <a:buChar char="●"/>
            </a:pPr>
            <a:r>
              <a:rPr lang="en-US" sz="13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Recursos dispersos entre videos, documentos y material informal.</a:t>
            </a:r>
            <a:endParaRPr sz="13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bin Medium"/>
              <a:buChar char="●"/>
            </a:pPr>
            <a:r>
              <a:rPr lang="en-US" sz="13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Falta de una ruta progresiva de aprendizaje.</a:t>
            </a:r>
            <a:endParaRPr sz="13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bin Medium"/>
              <a:buChar char="●"/>
            </a:pPr>
            <a:r>
              <a:rPr lang="en-US" sz="13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Poca retroalimentación sobre si una seña se ejecuta correctamente.</a:t>
            </a:r>
            <a:endParaRPr sz="13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bin Medium"/>
              <a:buChar char="●"/>
            </a:pPr>
            <a:r>
              <a:rPr lang="en-US" sz="13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Falta de mecanismos de motivación y seguimiento del progreso.</a:t>
            </a:r>
            <a:endParaRPr sz="13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5623560"/>
            <a:ext cx="6126480" cy="1005840"/>
          </a:xfrm>
          <a:prstGeom prst="roundRect">
            <a:avLst>
              <a:gd fmla="val 9091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685800" y="5742432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La oportunidad</a:t>
            </a:r>
            <a:endParaRPr sz="13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685800" y="603504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Crear una experiencia digital para LSCh tan accesible y motivante como las plataformas modernas de aprendizaje de idiomas.</a:t>
            </a:r>
            <a:endParaRPr sz="12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178040" y="777240"/>
            <a:ext cx="4526280" cy="5349240"/>
          </a:xfrm>
          <a:prstGeom prst="roundRect">
            <a:avLst>
              <a:gd fmla="val 3636" name="adj"/>
            </a:avLst>
          </a:prstGeom>
          <a:solidFill>
            <a:srgbClr val="2239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/assets/fox_door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923" y="1711251"/>
            <a:ext cx="5423157" cy="3618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F57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457200" y="384048"/>
            <a:ext cx="502920" cy="41148"/>
          </a:xfrm>
          <a:prstGeom prst="rect">
            <a:avLst/>
          </a:prstGeom>
          <a:solidFill>
            <a:srgbClr val="F584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457200" y="4572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843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457200" y="64008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¿Qué es Signy?</a:t>
            </a:r>
            <a:endParaRPr sz="32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457200" y="1280160"/>
            <a:ext cx="6035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A9C0DE"/>
                </a:solidFill>
                <a:latin typeface="Cabin Medium"/>
                <a:ea typeface="Cabin Medium"/>
                <a:cs typeface="Cabin Medium"/>
                <a:sym typeface="Cabin Medium"/>
              </a:rPr>
              <a:t>Signy es una aplicación móvil gamificada que busca enseñar Lengua de Señas Chilena de manera autónoma, progresiva e interactiva.</a:t>
            </a:r>
            <a:endParaRPr sz="14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457200" y="1965960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A9C0DE"/>
                </a:solidFill>
                <a:latin typeface="Cabin Medium"/>
                <a:ea typeface="Cabin Medium"/>
                <a:cs typeface="Cabin Medium"/>
                <a:sym typeface="Cabin Medium"/>
              </a:rPr>
              <a:t>El usuario aprende mediante una ruta organizada por niveles y subniveles, combinando teoría, práctica y evaluación.</a:t>
            </a:r>
            <a:endParaRPr sz="14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457200" y="26974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La experiencia incluye</a:t>
            </a:r>
            <a:endParaRPr sz="16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502920" y="3063240"/>
            <a:ext cx="60350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bin Medium"/>
              <a:buChar char="●"/>
            </a:pPr>
            <a:r>
              <a:rPr lang="en-US" sz="130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Flashcards para aprender vocabulario.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bin Medium"/>
              <a:buChar char="●"/>
            </a:pPr>
            <a:r>
              <a:rPr lang="en-US" sz="130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Ejercicios de selección múltiple.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bin Medium"/>
              <a:buChar char="●"/>
            </a:pPr>
            <a:r>
              <a:rPr lang="en-US" sz="130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Emparejamiento de palabras y señas.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bin Medium"/>
              <a:buChar char="●"/>
            </a:pPr>
            <a:r>
              <a:rPr lang="en-US" sz="130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Cuestionarios y repasos.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bin Medium"/>
              <a:buChar char="●"/>
            </a:pPr>
            <a:r>
              <a:rPr lang="en-US" sz="130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Sistema de vidas, experiencia y rachas.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bin Medium"/>
              <a:buChar char="●"/>
            </a:pPr>
            <a:r>
              <a:rPr lang="en-US" sz="130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Seguimiento del progreso.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bin Medium"/>
              <a:buChar char="●"/>
            </a:pPr>
            <a:r>
              <a:rPr lang="en-US" sz="130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Perfil y estadísticas del usuario.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bin Medium"/>
              <a:buChar char="●"/>
            </a:pPr>
            <a:r>
              <a:rPr lang="en-US" sz="130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Práctica de señas utilizando la cámara del dispositivo.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5623560"/>
            <a:ext cx="6126480" cy="1005840"/>
          </a:xfrm>
          <a:prstGeom prst="roundRect">
            <a:avLst>
              <a:gd fmla="val 9091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685800" y="5742432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Nuestro objetivo</a:t>
            </a:r>
            <a:endParaRPr sz="13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685800" y="603504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Que aprender LSCh deje de sentirse como estudiar material aislado y se convierta en una experiencia continua, entretenida y medible.</a:t>
            </a:r>
            <a:endParaRPr sz="12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pic>
        <p:nvPicPr>
          <p:cNvPr descr="/home/claude/ppt/assets/phone_flashcard.jp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6267" y="822960"/>
            <a:ext cx="2394412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/assets/phone_home.jpg" id="53" name="Google Shape;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0973" y="788403"/>
            <a:ext cx="2466694" cy="4954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F57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457200" y="292004"/>
            <a:ext cx="502920" cy="41148"/>
          </a:xfrm>
          <a:prstGeom prst="rect">
            <a:avLst/>
          </a:prstGeom>
          <a:solidFill>
            <a:srgbClr val="F584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457200" y="2697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843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502920" y="617220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DLaM Display"/>
              <a:buNone/>
            </a:pPr>
            <a:r>
              <a:rPr b="1" lang="en-US" sz="27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No queremos que el usuario</a:t>
            </a:r>
            <a:endParaRPr sz="27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DLaM Display"/>
              <a:buNone/>
            </a:pPr>
            <a:r>
              <a:rPr b="1" lang="en-US" sz="27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solo mire una seña:</a:t>
            </a:r>
            <a:endParaRPr sz="27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DLaM Display"/>
              <a:buNone/>
            </a:pPr>
            <a:r>
              <a:rPr b="1" lang="en-US" sz="27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queremos que la practique</a:t>
            </a:r>
            <a:endParaRPr sz="27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457200" y="2011680"/>
            <a:ext cx="6126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9C0DE"/>
                </a:solidFill>
                <a:latin typeface="Calibri"/>
                <a:ea typeface="Calibri"/>
                <a:cs typeface="Calibri"/>
                <a:sym typeface="Calibri"/>
              </a:rPr>
              <a:t>La característica que diferencia a Signy es la incorporación de </a:t>
            </a:r>
            <a:r>
              <a:rPr b="1" lang="en-US" sz="1350">
                <a:solidFill>
                  <a:srgbClr val="A9C0DE"/>
                </a:solidFill>
                <a:latin typeface="Calibri"/>
                <a:ea typeface="Calibri"/>
                <a:cs typeface="Calibri"/>
                <a:sym typeface="Calibri"/>
              </a:rPr>
              <a:t>visión por computadora mediante MediaPipe.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457200" y="2651760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5843F"/>
                </a:solidFill>
                <a:latin typeface="Arial"/>
                <a:ea typeface="Arial"/>
                <a:cs typeface="Arial"/>
                <a:sym typeface="Arial"/>
              </a:rPr>
              <a:t>¿Cómo funciona hoy?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502920" y="2971800"/>
            <a:ext cx="60807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usuario observa una seña de referencia.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realiza frente a la cámara.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sistema mide el movimiento capturado y calcula un puntaje de similitud (heurística de movimiento, versión actual en la lección).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usuario recibe retroalimentación y puede volver a intentarlo.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4526280"/>
            <a:ext cx="6126480" cy="1234440"/>
          </a:xfrm>
          <a:prstGeom prst="roundRect">
            <a:avLst>
              <a:gd fmla="val 7407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658368" y="4645152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5843F"/>
                </a:solidFill>
                <a:latin typeface="Arial"/>
                <a:ea typeface="Arial"/>
                <a:cs typeface="Arial"/>
                <a:sym typeface="Arial"/>
              </a:rPr>
              <a:t>Ya validado — próximo paso: conectarlo a la lección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658368" y="4919472"/>
            <a:ext cx="5760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detección real de los 21 puntos de la mano (MediaPipe Hands) ya funciona en una pantalla de pruebas dedicada, con esqueleto dibujado y métricas de FPS y latencia. El siguiente paso es conectarla a la fase de cámara de la lección para comparar contra los landmarks de referencia.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457200" y="5897880"/>
            <a:ext cx="6126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Calibri"/>
              <a:buNone/>
            </a:pPr>
            <a:r>
              <a:rPr b="1" i="1" lang="en-US" sz="1250">
                <a:solidFill>
                  <a:srgbClr val="F5843F"/>
                </a:solidFill>
                <a:latin typeface="Calibri"/>
                <a:ea typeface="Calibri"/>
                <a:cs typeface="Calibri"/>
                <a:sym typeface="Calibri"/>
              </a:rPr>
              <a:t>La heurística actual ya transforma a Signy en una app de práctica, no solo de contenido; MediaPipe Hands es el camino hacia una evaluación de precisión real.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/assets/fox_camera_icon.png"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1525" y="5351224"/>
            <a:ext cx="1946981" cy="1300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8274" y="429768"/>
            <a:ext cx="2474283" cy="4737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7678" y="429768"/>
            <a:ext cx="2380529" cy="4737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F57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457200" y="322326"/>
            <a:ext cx="502920" cy="41148"/>
          </a:xfrm>
          <a:prstGeom prst="rect">
            <a:avLst/>
          </a:prstGeom>
          <a:solidFill>
            <a:srgbClr val="F584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457200" y="32232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843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457200" y="585216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DLaM Display"/>
              <a:buNone/>
            </a:pPr>
            <a:r>
              <a:rPr b="1" lang="en-US" sz="30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Aprender también</a:t>
            </a:r>
            <a:endParaRPr sz="30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DLaM Display"/>
              <a:buNone/>
            </a:pPr>
            <a:r>
              <a:rPr b="1" lang="en-US" sz="30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tiene que motivar</a:t>
            </a:r>
            <a:endParaRPr sz="30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384048" y="1517904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9C0DE"/>
                </a:solidFill>
                <a:latin typeface="Cabin"/>
                <a:ea typeface="Cabin"/>
                <a:cs typeface="Cabin"/>
                <a:sym typeface="Cabin"/>
              </a:rPr>
              <a:t>Signy utiliza elementos de gamificación para fomentar la práctica constante:</a:t>
            </a:r>
            <a:endParaRPr sz="135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2286000"/>
            <a:ext cx="2926080" cy="960120"/>
          </a:xfrm>
          <a:prstGeom prst="roundRect">
            <a:avLst>
              <a:gd fmla="val 7619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594360" y="23957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❤️</a:t>
            </a:r>
            <a:endParaRPr sz="2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1051560" y="23774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5843F"/>
                </a:solidFill>
                <a:latin typeface="Cabin"/>
                <a:ea typeface="Cabin"/>
                <a:cs typeface="Cabin"/>
                <a:sym typeface="Cabin"/>
              </a:rPr>
              <a:t>Vidas</a:t>
            </a:r>
            <a:endParaRPr sz="125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1051560" y="2670048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El usuario dispone de vidas durante las lecciones.</a:t>
            </a:r>
            <a:endParaRPr sz="1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493008" y="2286000"/>
            <a:ext cx="2926080" cy="960120"/>
          </a:xfrm>
          <a:prstGeom prst="roundRect">
            <a:avLst>
              <a:gd fmla="val 7619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3630168" y="23957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🔥</a:t>
            </a:r>
            <a:endParaRPr sz="2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4087368" y="23774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5843F"/>
                </a:solidFill>
                <a:latin typeface="Cabin"/>
                <a:ea typeface="Cabin"/>
                <a:cs typeface="Cabin"/>
                <a:sym typeface="Cabin"/>
              </a:rPr>
              <a:t>Rachas</a:t>
            </a:r>
            <a:endParaRPr sz="125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4087368" y="2670048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Racha diaria con hasta 2 congeladores que la protegen si se pasa un día.</a:t>
            </a:r>
            <a:endParaRPr sz="1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3355848"/>
            <a:ext cx="2926080" cy="960120"/>
          </a:xfrm>
          <a:prstGeom prst="roundRect">
            <a:avLst>
              <a:gd fmla="val 7619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94360" y="34655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⭐</a:t>
            </a:r>
            <a:endParaRPr sz="2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051560" y="34472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5843F"/>
                </a:solidFill>
                <a:latin typeface="Cabin"/>
                <a:ea typeface="Cabin"/>
                <a:cs typeface="Cabin"/>
                <a:sym typeface="Cabin"/>
              </a:rPr>
              <a:t>Experiencia (XP)</a:t>
            </a:r>
            <a:endParaRPr sz="125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1051560" y="3739896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Cada avance permite acumular puntos de experiencia.</a:t>
            </a:r>
            <a:endParaRPr sz="1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493008" y="3355848"/>
            <a:ext cx="2926080" cy="960120"/>
          </a:xfrm>
          <a:prstGeom prst="roundRect">
            <a:avLst>
              <a:gd fmla="val 7619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3630168" y="34655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📈</a:t>
            </a:r>
            <a:endParaRPr sz="2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4087368" y="34472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5843F"/>
                </a:solidFill>
                <a:latin typeface="Cabin"/>
                <a:ea typeface="Cabin"/>
                <a:cs typeface="Cabin"/>
                <a:sym typeface="Cabin"/>
              </a:rPr>
              <a:t>Progreso</a:t>
            </a:r>
            <a:endParaRPr sz="125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4087368" y="3739896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Niveles y subniveles completados quedan registrados.</a:t>
            </a:r>
            <a:endParaRPr sz="1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0" y="4425696"/>
            <a:ext cx="2926080" cy="960120"/>
          </a:xfrm>
          <a:prstGeom prst="roundRect">
            <a:avLst>
              <a:gd fmla="val 7619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594360" y="45354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🔔</a:t>
            </a:r>
            <a:endParaRPr sz="2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1051560" y="451713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5843F"/>
                </a:solidFill>
                <a:latin typeface="Cabin"/>
                <a:ea typeface="Cabin"/>
                <a:cs typeface="Cabin"/>
                <a:sym typeface="Cabin"/>
              </a:rPr>
              <a:t>Notificaciones</a:t>
            </a:r>
            <a:endParaRPr sz="125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051560" y="4809744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Recordatorio diario configurable y aviso al recuperar una vida.</a:t>
            </a:r>
            <a:endParaRPr sz="1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493008" y="4425696"/>
            <a:ext cx="2926080" cy="960120"/>
          </a:xfrm>
          <a:prstGeom prst="roundRect">
            <a:avLst>
              <a:gd fmla="val 7619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3630168" y="45354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📅</a:t>
            </a:r>
            <a:endParaRPr sz="2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4087368" y="451713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5843F"/>
                </a:solidFill>
                <a:latin typeface="Cabin"/>
                <a:ea typeface="Cabin"/>
                <a:cs typeface="Cabin"/>
                <a:sym typeface="Cabin"/>
              </a:rPr>
              <a:t>Calendario de racha</a:t>
            </a:r>
            <a:endParaRPr sz="125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4087368" y="4809744"/>
            <a:ext cx="2194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Los últimos 28 días de práctica, visibles en el perfil.</a:t>
            </a:r>
            <a:endParaRPr sz="10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1250831" y="5458278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5843F"/>
                </a:solidFill>
                <a:latin typeface="Cabin"/>
                <a:ea typeface="Cabin"/>
                <a:cs typeface="Cabin"/>
                <a:sym typeface="Cabin"/>
              </a:rPr>
              <a:t>La idea no es solo enseñar una seña: es generar hábito y progreso.</a:t>
            </a:r>
            <a:endParaRPr sz="13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descr="/home/claude/ppt/assets/phone_profile_racha.jpg" id="106" name="Google Shape;106;p5"/>
          <p:cNvPicPr preferRelativeResize="0"/>
          <p:nvPr/>
        </p:nvPicPr>
        <p:blipFill rotWithShape="1">
          <a:blip r:embed="rId3">
            <a:alphaModFix/>
          </a:blip>
          <a:srcRect b="5828" l="0" r="0" t="3462"/>
          <a:stretch/>
        </p:blipFill>
        <p:spPr>
          <a:xfrm>
            <a:off x="8330485" y="608852"/>
            <a:ext cx="2494519" cy="5037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F5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457200" y="384048"/>
            <a:ext cx="502920" cy="41148"/>
          </a:xfrm>
          <a:prstGeom prst="rect">
            <a:avLst/>
          </a:prstGeom>
          <a:solidFill>
            <a:srgbClr val="F584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457200" y="4572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843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457200" y="77724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DLaM Display"/>
              <a:buNone/>
            </a:pPr>
            <a:r>
              <a:rPr b="1" lang="en-US" sz="27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Tecnología pensada para una</a:t>
            </a:r>
            <a:endParaRPr sz="27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DLaM Display"/>
              <a:buNone/>
            </a:pPr>
            <a:r>
              <a:rPr b="1" lang="en-US" sz="27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aplicación real y escalable</a:t>
            </a:r>
            <a:endParaRPr sz="27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1828800"/>
            <a:ext cx="6126480" cy="850392"/>
          </a:xfrm>
          <a:prstGeom prst="roundRect">
            <a:avLst>
              <a:gd fmla="val 8602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658368" y="1892808"/>
            <a:ext cx="5760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Frontend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658368" y="2139696"/>
            <a:ext cx="5760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Ionic + Angular + Capacitor</a:t>
            </a:r>
            <a:endParaRPr sz="11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658368" y="237744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9C0DE"/>
                </a:solidFill>
                <a:latin typeface="Cabin Medium"/>
                <a:ea typeface="Cabin Medium"/>
                <a:cs typeface="Cabin Medium"/>
                <a:sym typeface="Cabin Medium"/>
              </a:rPr>
              <a:t>Interfaz móvil, navegación, ejercicios y experiencia de usuario.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2788920"/>
            <a:ext cx="6126480" cy="850392"/>
          </a:xfrm>
          <a:prstGeom prst="roundRect">
            <a:avLst>
              <a:gd fmla="val 8602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658368" y="2852928"/>
            <a:ext cx="5760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Backend y Base de Datos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658368" y="3099816"/>
            <a:ext cx="5760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Supabase + PostgreSQL</a:t>
            </a:r>
            <a:endParaRPr sz="11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658368" y="333756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9C0DE"/>
                </a:solidFill>
                <a:latin typeface="Cabin Medium"/>
                <a:ea typeface="Cabin Medium"/>
                <a:cs typeface="Cabin Medium"/>
                <a:sym typeface="Cabin Medium"/>
              </a:rPr>
              <a:t>Autenticación, usuarios, contenido, progreso, estadísticas y persistencia.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3749040"/>
            <a:ext cx="6126480" cy="850392"/>
          </a:xfrm>
          <a:prstGeom prst="roundRect">
            <a:avLst>
              <a:gd fmla="val 8602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658368" y="3813048"/>
            <a:ext cx="5760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Visión por Computadora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658368" y="4059936"/>
            <a:ext cx="5760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MediaPipe</a:t>
            </a:r>
            <a:endParaRPr sz="11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658368" y="429768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9C0DE"/>
                </a:solidFill>
                <a:latin typeface="Cabin Medium"/>
                <a:ea typeface="Cabin Medium"/>
                <a:cs typeface="Cabin Medium"/>
                <a:sym typeface="Cabin Medium"/>
              </a:rPr>
              <a:t>Detección de landmarks de la mano ya validada; evaluación de señas en la lección, en desarrollo.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457200" y="4764024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La base de datos ya está diseñada para soportar</a:t>
            </a:r>
            <a:endParaRPr sz="13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502920" y="5056632"/>
            <a:ext cx="1965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bin Medium"/>
              <a:buChar char="●"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Usuarios y perfiles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bin Medium"/>
              <a:buChar char="●"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Niveles y subniveles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bin Medium"/>
              <a:buChar char="●"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Banco de señas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2560320" y="5056632"/>
            <a:ext cx="1965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bin Medium"/>
              <a:buChar char="●"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Progreso individual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bin Medium"/>
              <a:buChar char="●"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Gamificación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bin Medium"/>
              <a:buChar char="●"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Logros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4617720" y="5056632"/>
            <a:ext cx="1965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bin Medium"/>
              <a:buChar char="●"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Intentos de ejercicios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bin Medium"/>
              <a:buChar char="●"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Fallos recurrentes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bin Medium"/>
              <a:buChar char="●"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Scores de similitud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57200" y="6007608"/>
            <a:ext cx="6126480" cy="621792"/>
          </a:xfrm>
          <a:prstGeom prst="roundRect">
            <a:avLst>
              <a:gd fmla="val 11765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658368" y="6071616"/>
            <a:ext cx="5760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Signy no es solamente una idea: existe una arquitectura definida para poder desarrollarla.</a:t>
            </a:r>
            <a:endParaRPr sz="11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pic>
        <p:nvPicPr>
          <p:cNvPr descr="/home/claude/ppt/assets/phone_niveles_vocab.jp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731520"/>
            <a:ext cx="2148840" cy="4783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/assets/phone_password_2fa.jpg" id="134" name="Google Shape;13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800" y="731520"/>
            <a:ext cx="2148840" cy="478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F5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457200" y="384048"/>
            <a:ext cx="502920" cy="41148"/>
          </a:xfrm>
          <a:prstGeom prst="rect">
            <a:avLst/>
          </a:prstGeom>
          <a:solidFill>
            <a:srgbClr val="F584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457200" y="4572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843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457200" y="777240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DLaM Display"/>
              <a:buNone/>
            </a:pPr>
            <a:r>
              <a:rPr b="1" lang="en-US" sz="2700">
                <a:solidFill>
                  <a:srgbClr val="FFFFFF"/>
                </a:solidFill>
                <a:latin typeface="ADLaM Display"/>
                <a:ea typeface="ADLaM Display"/>
                <a:cs typeface="ADLaM Display"/>
                <a:sym typeface="ADLaM Display"/>
              </a:rPr>
              <a:t>Tecnología con un propósito</a:t>
            </a:r>
            <a:endParaRPr sz="2700">
              <a:solidFill>
                <a:schemeClr val="dk1"/>
              </a:solidFill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457200" y="1325880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9C0DE"/>
                </a:solidFill>
                <a:latin typeface="Cabin Medium"/>
                <a:ea typeface="Cabin Medium"/>
                <a:cs typeface="Cabin Medium"/>
                <a:sym typeface="Cabin Medium"/>
              </a:rPr>
              <a:t>Signy combina cuatro elementos que normalmente aparecen por separado:</a:t>
            </a:r>
            <a:endParaRPr sz="13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1965960"/>
            <a:ext cx="2971800" cy="1005840"/>
          </a:xfrm>
          <a:prstGeom prst="roundRect">
            <a:avLst>
              <a:gd fmla="val 7273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640080" y="207568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Educación</a:t>
            </a:r>
            <a:endParaRPr sz="12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640080" y="2368296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Una ruta estructurada para aprender LSCh.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566160" y="1965960"/>
            <a:ext cx="2971800" cy="1005840"/>
          </a:xfrm>
          <a:prstGeom prst="roundRect">
            <a:avLst>
              <a:gd fmla="val 7273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3749040" y="207568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Gamificación</a:t>
            </a:r>
            <a:endParaRPr sz="12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3749040" y="2368296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Motivación mediante vidas, XP, rachas y progreso.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3081528"/>
            <a:ext cx="2971800" cy="1005840"/>
          </a:xfrm>
          <a:prstGeom prst="roundRect">
            <a:avLst>
              <a:gd fmla="val 7273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640080" y="31912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Accesibilidad</a:t>
            </a:r>
            <a:endParaRPr sz="12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640080" y="3483864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Aprendizaje desde un dispositivo móvil y al ritmo del usuario.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566160" y="3081528"/>
            <a:ext cx="2971800" cy="1005840"/>
          </a:xfrm>
          <a:prstGeom prst="roundRect">
            <a:avLst>
              <a:gd fmla="val 7273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3749040" y="31912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Visión por computadora</a:t>
            </a:r>
            <a:endParaRPr sz="12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3749040" y="3483864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Práctica mediante cámara y retroalimentación sobre la ejecución de las señas.</a:t>
            </a:r>
            <a:endParaRPr sz="10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457200" y="420624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A9C0DE"/>
                </a:solidFill>
                <a:latin typeface="Cabin Medium"/>
                <a:ea typeface="Cabin Medium"/>
                <a:cs typeface="Cabin Medium"/>
                <a:sym typeface="Cabin Medium"/>
              </a:rPr>
              <a:t>El proyecto contempla como etapa futura la validación del contenido junto a personas sordas y/o referentes de la comunidad.</a:t>
            </a:r>
            <a:endParaRPr sz="11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7200" y="4754880"/>
            <a:ext cx="6126480" cy="868680"/>
          </a:xfrm>
          <a:prstGeom prst="roundRect">
            <a:avLst>
              <a:gd fmla="val 10526" name="adj"/>
            </a:avLst>
          </a:prstGeom>
          <a:solidFill>
            <a:srgbClr val="2A3E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658368" y="4855464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5843F"/>
                </a:solidFill>
                <a:latin typeface="Cabin Medium"/>
                <a:ea typeface="Cabin Medium"/>
                <a:cs typeface="Cabin Medium"/>
                <a:sym typeface="Cabin Medium"/>
              </a:rPr>
              <a:t>Nuestra visión</a:t>
            </a:r>
            <a:endParaRPr sz="130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658368" y="5129784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FFFFF"/>
                </a:solidFill>
                <a:latin typeface="Cabin Medium"/>
                <a:ea typeface="Cabin Medium"/>
                <a:cs typeface="Cabin Medium"/>
                <a:sym typeface="Cabin Medium"/>
              </a:rPr>
              <a:t>Convertir Signy en una plataforma de referencia para aprender Lengua de Señas Chilena de una forma accesible, entretenida y tecnológica.</a:t>
            </a:r>
            <a:endParaRPr sz="1150">
              <a:solidFill>
                <a:schemeClr val="dk1"/>
              </a:solidFill>
              <a:latin typeface="Cabin Medium"/>
              <a:ea typeface="Cabin Medium"/>
              <a:cs typeface="Cabin Medium"/>
              <a:sym typeface="Cabin Medium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457200" y="5806440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843F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F5843F"/>
                </a:solidFill>
                <a:latin typeface="Caveat Medium"/>
                <a:ea typeface="Caveat Medium"/>
                <a:cs typeface="Caveat Medium"/>
                <a:sym typeface="Caveat Medium"/>
              </a:rPr>
              <a:t>SIGNY</a:t>
            </a:r>
            <a:endParaRPr sz="2800">
              <a:solidFill>
                <a:schemeClr val="dk1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457200" y="6291072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C0D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9C0DE"/>
                </a:solidFill>
                <a:latin typeface="Calibri"/>
                <a:ea typeface="Calibri"/>
                <a:cs typeface="Calibri"/>
                <a:sym typeface="Calibri"/>
              </a:rPr>
              <a:t>Aprender. Practicar. Conectar.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/assets/fox_trail.png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3218" y="1613160"/>
            <a:ext cx="4678782" cy="3117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2026-09-02T22:44:11Z</dcterms:created>
  <dc:creator>PptxGenJS</dc:creator>
</cp:coreProperties>
</file>